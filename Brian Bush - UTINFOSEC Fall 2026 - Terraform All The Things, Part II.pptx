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578"/>
    <a:srgbClr val="AE6042"/>
    <a:srgbClr val="4E7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98"/>
    <p:restoredTop sz="94664"/>
  </p:normalViewPr>
  <p:slideViewPr>
    <p:cSldViewPr snapToGrid="0">
      <p:cViewPr varScale="1">
        <p:scale>
          <a:sx n="202" d="100"/>
          <a:sy n="202" d="100"/>
        </p:scale>
        <p:origin x="72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82C64-586A-E949-B7C7-4EF9E2BA7CA1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6E505-E02E-1D47-9AB8-B992CB05A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55DB8C-8D11-7FF2-CA18-56760720D5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8" y="1775222"/>
            <a:ext cx="4112331" cy="8572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9" y="2701528"/>
            <a:ext cx="4112329" cy="857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800" baseline="0">
                <a:solidFill>
                  <a:schemeClr val="bg1"/>
                </a:solidFill>
                <a:latin typeface="Helvetica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CD854D-8B4F-5DE9-11AD-4718B644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0F042D8-3C6D-12F8-2821-C75F6C05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44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520" y="809577"/>
            <a:ext cx="2747217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262" y="809577"/>
            <a:ext cx="5593751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DB91DFC-450D-FB89-75A2-ABBE8CF1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686D83-7674-3918-A404-26ABF81B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ADAD6A-4493-6F79-67BB-529EA9CB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B29EC44-CE2C-7D05-4771-DBD6921BB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39983" y="1299931"/>
            <a:ext cx="2746753" cy="3288307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5DAD20E7-D8A9-49BD-3AFE-17A3E83E6B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6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62" y="809577"/>
            <a:ext cx="2747217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2985" y="809577"/>
            <a:ext cx="5593751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DB91DFC-450D-FB89-75A2-ABBE8CF1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686D83-7674-3918-A404-26ABF81B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ADAD6A-4493-6F79-67BB-529EA9CB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59C24-FF4B-C613-AE40-E591672DE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262" y="1299931"/>
            <a:ext cx="2746753" cy="3288307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5357BC6F-EB1D-94F7-0C42-9E8361DE03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1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wo Column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41B35-A8DB-0D60-CA8E-AC9DC4B7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0E88-FBA6-530A-332C-2C92A427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F9560-E433-8D9A-0CB8-387CD429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446C65-E635-0965-50E1-A8E7125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1" y="809577"/>
            <a:ext cx="2449152" cy="1180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4E581D6-8212-43C6-BF7A-16D41A99E5E3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4017" y="795336"/>
            <a:ext cx="5682719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F8DD688-0EB9-A192-DFA3-8311D8D389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5410" y="2411506"/>
            <a:ext cx="2449153" cy="2162491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E4BC7B8-21BD-F312-D1C9-4EDB691603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88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wo Column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41B35-A8DB-0D60-CA8E-AC9DC4B7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0E88-FBA6-530A-332C-2C92A427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F9560-E433-8D9A-0CB8-387CD429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446C65-E635-0965-50E1-A8E7125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1" y="809577"/>
            <a:ext cx="2449152" cy="1180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4E581D6-8212-43C6-BF7A-16D41A99E5E3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290047" y="795336"/>
            <a:ext cx="5496689" cy="37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latin typeface="Helvetica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F8DD688-0EB9-A192-DFA3-8311D8D389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5410" y="2411506"/>
            <a:ext cx="2449153" cy="2162491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9360214-904F-C721-7DE6-F496BA3D00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3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446C65-E635-0965-50E1-A8E7125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0" y="809577"/>
            <a:ext cx="8429936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619FA628-0018-6153-1D5D-AA7506F8B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4484" y="1355359"/>
            <a:ext cx="8432252" cy="3218638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Helvetica" pitchFamily="2" charset="0"/>
              </a:defRPr>
            </a:lvl1pPr>
            <a:lvl2pPr>
              <a:defRPr sz="1600" baseline="0">
                <a:latin typeface="Helvetica" pitchFamily="2" charset="0"/>
              </a:defRPr>
            </a:lvl2pPr>
            <a:lvl3pPr>
              <a:defRPr sz="1400" baseline="0">
                <a:latin typeface="Helvetica" pitchFamily="2" charset="0"/>
              </a:defRPr>
            </a:lvl3pPr>
            <a:lvl4pPr>
              <a:defRPr sz="1200" baseline="0">
                <a:latin typeface="Helvetica" pitchFamily="2" charset="0"/>
              </a:defRPr>
            </a:lvl4pPr>
            <a:lvl5pPr>
              <a:defRPr sz="9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E869E529-B2FB-8980-92F4-4E62E45782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92BD4-0397-CABE-CBFB-0AB62F9067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C54E82-CA8A-CDEE-EAEF-973B1CD47B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1A92C9-DD98-ED4B-7D72-9B467910F6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70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41B35-A8DB-0D60-CA8E-AC9DC4B7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0E88-FBA6-530A-332C-2C92A427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F9560-E433-8D9A-0CB8-387CD429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43B465-D479-23D6-1413-3B81138F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0" y="809577"/>
            <a:ext cx="8429936" cy="4178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8796749-641C-9880-4AFD-99FE954C4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4484" y="1881371"/>
            <a:ext cx="8432252" cy="2692626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Helvetica" pitchFamily="2" charset="0"/>
              </a:defRPr>
            </a:lvl1pPr>
            <a:lvl2pPr>
              <a:defRPr sz="1400" baseline="0">
                <a:latin typeface="Helvetica" pitchFamily="2" charset="0"/>
              </a:defRPr>
            </a:lvl2pPr>
            <a:lvl3pPr>
              <a:defRPr sz="1200" baseline="0">
                <a:latin typeface="Helvetica" pitchFamily="2" charset="0"/>
              </a:defRPr>
            </a:lvl3pPr>
            <a:lvl4pPr>
              <a:defRPr sz="1000" baseline="0">
                <a:latin typeface="Helvetica" pitchFamily="2" charset="0"/>
              </a:defRPr>
            </a:lvl4pPr>
            <a:lvl5pPr>
              <a:defRPr sz="800" baseline="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AA8B690-E8E2-7791-82D5-693623D8F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4484" y="1345474"/>
            <a:ext cx="4169619" cy="4178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 i="0" baseline="0">
                <a:solidFill>
                  <a:schemeClr val="tx1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6FFA6-0642-E9BA-1E7B-4F10EC3870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17117" y="1345474"/>
            <a:ext cx="4169619" cy="4178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 i="0" baseline="0">
                <a:solidFill>
                  <a:schemeClr val="tx1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BC8BBDB8-5A07-106A-F53B-E1C1B75A47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8850" y="158750"/>
            <a:ext cx="2747963" cy="30092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100"/>
              </a:spcAft>
              <a:buNone/>
              <a:defRPr sz="9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4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7CF3758-D877-7107-FEA1-01962A27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526BB4E-CFD8-BEB0-2BCC-AB938AF2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E93817D-18BA-219B-DFE5-352AA109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6A853D-2213-9F89-7643-41028EB8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0" y="1138687"/>
            <a:ext cx="8429936" cy="1216324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 i="0" cap="all" spc="28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19A01D8-3C17-A3F0-0AD9-B3BCFC1C3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800" y="2932981"/>
            <a:ext cx="8429935" cy="1216324"/>
          </a:xfrm>
          <a:prstGeom prst="rect">
            <a:avLst/>
          </a:prstGeom>
        </p:spPr>
        <p:txBody>
          <a:bodyPr/>
          <a:lstStyle>
            <a:lvl1pPr algn="ctr">
              <a:defRPr sz="1800" b="0" i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algn="ctr">
              <a:defRPr sz="1800" b="0" i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defRPr sz="1200" baseline="0">
                <a:latin typeface="Univers" panose="020B0503020202020204" pitchFamily="34" charset="0"/>
              </a:defRPr>
            </a:lvl3pPr>
            <a:lvl4pPr>
              <a:defRPr sz="1000" baseline="0">
                <a:latin typeface="Univers" panose="020B0503020202020204" pitchFamily="34" charset="0"/>
              </a:defRPr>
            </a:lvl4pPr>
            <a:lvl5pPr>
              <a:defRPr sz="800" baseline="0">
                <a:latin typeface="Univers" panose="020B05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4768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86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44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Layout (v4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1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9983" y="4869656"/>
            <a:ext cx="2746753" cy="171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cap="small" spc="15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264" y="4869655"/>
            <a:ext cx="2746753" cy="17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cap="small" spc="15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FDC0E6-9186-6879-A1E0-EEEE8B215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869655"/>
            <a:ext cx="2057400" cy="171451"/>
          </a:xfrm>
          <a:prstGeom prst="rect">
            <a:avLst/>
          </a:prstGeom>
        </p:spPr>
        <p:txBody>
          <a:bodyPr/>
          <a:lstStyle>
            <a:lvl1pPr>
              <a:defRPr sz="800" b="0" i="0" baseline="0">
                <a:solidFill>
                  <a:schemeClr val="tx2"/>
                </a:solidFill>
                <a:latin typeface="Helvetica" pitchFamily="2" charset="0"/>
              </a:defRPr>
            </a:lvl1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1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1" r:id="rId3"/>
    <p:sldLayoutId id="2147483680" r:id="rId4"/>
    <p:sldLayoutId id="2147483687" r:id="rId5"/>
    <p:sldLayoutId id="2147483682" r:id="rId6"/>
    <p:sldLayoutId id="2147483683" r:id="rId7"/>
    <p:sldLayoutId id="2147483679" r:id="rId8"/>
    <p:sldLayoutId id="2147483684" r:id="rId9"/>
    <p:sldLayoutId id="2147483685" r:id="rId10"/>
    <p:sldLayoutId id="214748368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Terraform All The Things, Part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900" dirty="0"/>
              <a:t>Security As Code, In Production</a:t>
            </a:r>
          </a:p>
          <a:p>
            <a:pPr>
              <a:spcBef>
                <a:spcPts val="1000"/>
              </a:spcBef>
            </a:pPr>
            <a:r>
              <a:rPr sz="900" i="1" dirty="0"/>
              <a:t>Brian Bush</a:t>
            </a:r>
            <a:r>
              <a:rPr lang="en-US" sz="900" i="1" dirty="0"/>
              <a:t>, Security Architect</a:t>
            </a:r>
          </a:p>
          <a:p>
            <a:pPr>
              <a:spcBef>
                <a:spcPts val="1000"/>
              </a:spcBef>
            </a:pPr>
            <a:r>
              <a:rPr i="1" dirty="0"/>
              <a:t>CISSP, GCAD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Brian Bush, CISSP, GCAD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Security Architect, UTHealth Houston</a:t>
            </a:r>
          </a:p>
          <a:p>
            <a:pPr>
              <a:spcAft>
                <a:spcPts val="600"/>
              </a:spcAft>
            </a:pPr>
            <a:r>
              <a:rPr sz="2000"/>
              <a:t>25+ years in IT &amp; Security</a:t>
            </a:r>
          </a:p>
          <a:p>
            <a:pPr>
              <a:spcAft>
                <a:spcPts val="600"/>
              </a:spcAft>
            </a:pPr>
            <a:r>
              <a:rPr sz="2000"/>
              <a:t>3+ years leading a DevSecOps team</a:t>
            </a:r>
          </a:p>
          <a:p>
            <a:pPr>
              <a:spcAft>
                <a:spcPts val="600"/>
              </a:spcAft>
            </a:pPr>
            <a:r>
              <a:rPr sz="2000"/>
              <a:t>Currently living in Terraform/OpenTofu, OPA Rego, and GitHub Actions so the rest of the team doesn't have 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The 2024 Cliffhanger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r>
              <a:rPr sz="2800" b="1" i="1">
                <a:solidFill>
                  <a:srgbClr val="FFFFFF"/>
                </a:solidFill>
              </a:rPr>
              <a:t>“Security can be baked in. Compliance can be baked in.”</a:t>
            </a:r>
          </a:p>
          <a:p>
            <a:pPr>
              <a:spcBef>
                <a:spcPts val="1400"/>
              </a:spcBef>
            </a:pPr>
            <a:r>
              <a:rPr sz="1600" i="1">
                <a:solidFill>
                  <a:srgbClr val="FFFFFF"/>
                </a:solidFill>
              </a:rPr>
              <a:t>(my own speaker notes, 2024)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 i="1"/>
            </a:pPr>
            <a:r>
              <a:t>The actual 2024 slide:</a:t>
            </a:r>
          </a:p>
          <a:p>
            <a:pPr>
              <a:spcBef>
                <a:spcPts val="1200"/>
              </a:spcBef>
              <a:defRPr sz="1600" b="1"/>
            </a:pPr>
            <a:r>
              <a:t>“Resources”</a:t>
            </a:r>
          </a:p>
          <a:p>
            <a:pPr>
              <a:defRPr sz="1500"/>
            </a:pPr>
            <a:r>
              <a:t>Infrastructure-As-Code:  TBP</a:t>
            </a:r>
          </a:p>
          <a:p>
            <a:pPr>
              <a:defRPr sz="1500"/>
            </a:pPr>
            <a:r>
              <a:t>Dev&lt;Sec&gt;Ops – CI/CD:  TBP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Thesis, Restated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 wrap="square"/>
          <a:lstStyle/>
          <a:p>
            <a:pPr algn="ctr">
              <a:buNone/>
            </a:pPr>
            <a:r>
              <a:rPr sz="3600" b="1" dirty="0" err="1">
                <a:solidFill>
                  <a:srgbClr val="FFFFFF"/>
                </a:solidFill>
              </a:rPr>
              <a:t>IaC</a:t>
            </a:r>
            <a:r>
              <a:rPr sz="3600" b="1" dirty="0">
                <a:solidFill>
                  <a:srgbClr val="FFFFFF"/>
                </a:solidFill>
              </a:rPr>
              <a:t> + CI/CD = Security as Code</a:t>
            </a:r>
          </a:p>
          <a:p>
            <a:pPr algn="ctr">
              <a:spcBef>
                <a:spcPts val="2000"/>
              </a:spcBef>
              <a:buNone/>
            </a:pPr>
            <a:r>
              <a:rPr sz="1800" dirty="0">
                <a:solidFill>
                  <a:srgbClr val="FFFFFF"/>
                </a:solidFill>
              </a:rPr>
              <a:t>Same slide from 2024. Then it was a claim.
Let's see</a:t>
            </a:r>
            <a:r>
              <a:rPr lang="en-US" sz="1800" dirty="0">
                <a:solidFill>
                  <a:srgbClr val="FFFFFF"/>
                </a:solidFill>
              </a:rPr>
              <a:t> how we did!</a:t>
            </a: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System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endParaRPr lang="en-US" sz="1700" dirty="0"/>
          </a:p>
          <a:p>
            <a:pPr>
              <a:spcAft>
                <a:spcPts val="600"/>
              </a:spcAft>
            </a:pPr>
            <a:r>
              <a:rPr sz="1700" dirty="0"/>
              <a:t>4 GitHub Actions workflows: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700" dirty="0"/>
              <a:t>tofu-plan, tofu-apply, tofu-drift, credential-health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700" dirty="0"/>
              <a:t>OPA policy layer evaluated at plan, at apply, and nightly against live state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700" dirty="0"/>
              <a:t>S3 backend for state, fork-based contribution model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700" dirty="0"/>
              <a:t>Cloudflare + AWS, real production zones for UTHealth Houston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spcAft>
                <a:spcPts val="200"/>
              </a:spcAft>
              <a:buNone/>
            </a:pPr>
            <a:r>
              <a:rPr sz="1200" b="1" dirty="0">
                <a:solidFill>
                  <a:srgbClr val="FFFFFF"/>
                </a:solidFill>
              </a:rPr>
              <a:t>Per-PR pipeline: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sz="1400" dirty="0">
                <a:solidFill>
                  <a:srgbClr val="FFFFFF"/>
                </a:solidFill>
              </a:rPr>
              <a:t>commit → PR → 4 pre-flight jobs → plan → OPA → merge → apply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b="1" dirty="0">
                <a:solidFill>
                  <a:srgbClr val="FFFFFF"/>
                </a:solidFill>
              </a:rPr>
              <a:t>Continuous checks:</a:t>
            </a:r>
          </a:p>
          <a:p>
            <a:pPr marL="0" indent="0">
              <a:buNone/>
            </a:pPr>
            <a:r>
              <a:rPr sz="1400" dirty="0">
                <a:solidFill>
                  <a:srgbClr val="FFFFFF"/>
                </a:solidFill>
              </a:rPr>
              <a:t>drift, credential-health, and dependency updates (nightly/weekly)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Shopping List vs. The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>
          <a:xfrm>
            <a:off x="357262" y="1355359"/>
            <a:ext cx="4300000" cy="345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</a:rPr>
              <a:t>DAST via BurpSuite  →  </a:t>
            </a:r>
            <a:r>
              <a:rPr sz="1000">
                <a:solidFill>
                  <a:srgbClr val="FFFFFF"/>
                </a:solidFill>
              </a:rPr>
              <a:t>Not shipped, since IaC has no runtime surface to attack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</a:rPr>
              <a:t>SAST via Codacy/Checkov  →  </a:t>
            </a:r>
            <a:r>
              <a:rPr sz="1000">
                <a:solidFill>
                  <a:srgbClr val="FFFFFF"/>
                </a:solidFill>
              </a:rPr>
              <a:t>✅ Checkov runs as a Trunk linter, every PR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</a:rPr>
              <a:t>Policy as Code (OPA/Sentinel)  →  </a:t>
            </a:r>
            <a:r>
              <a:rPr sz="1000">
                <a:solidFill>
                  <a:srgbClr val="FFFFFF"/>
                </a:solidFill>
              </a:rPr>
              <a:t>✅ OPA, exactly as pitched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</a:rPr>
              <a:t>“Change Management baked in”  →  </a:t>
            </a:r>
            <a:r>
              <a:rPr sz="1000">
                <a:solidFill>
                  <a:srgbClr val="FFFFFF"/>
                </a:solidFill>
              </a:rPr>
              <a:t>✅ branch protection + required reviews/checks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</a:rPr>
              <a:t>(not on the 2024 list)  →  </a:t>
            </a:r>
            <a:r>
              <a:rPr sz="1000">
                <a:solidFill>
                  <a:srgbClr val="FFFFFF"/>
                </a:solidFill>
              </a:rPr>
              <a:t>✅ Zizmor, workflow-security scanning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</a:rPr>
              <a:t>(not on the 2024 list)  →  </a:t>
            </a:r>
            <a:r>
              <a:rPr sz="1000">
                <a:solidFill>
                  <a:srgbClr val="FFFFFF"/>
                </a:solidFill>
              </a:rPr>
              <a:t>✅ GitGuardian, secret scanning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</a:rPr>
              <a:t>(not on the 2024 list)  →  </a:t>
            </a:r>
            <a:r>
              <a:rPr sz="1000">
                <a:solidFill>
                  <a:srgbClr val="FFFFFF"/>
                </a:solidFill>
              </a:rPr>
              <a:t>✅ terrascan, tflint, trivy, trufflehog, bandit (via Trunk)</a:t>
            </a:r>
          </a:p>
        </p:txBody>
      </p:sp>
      <p:pic>
        <p:nvPicPr>
          <p:cNvPr id="6" name="Dependency Com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53" y="1039835"/>
            <a:ext cx="2204440" cy="2800000"/>
          </a:xfrm>
          <a:prstGeom prst="rect">
            <a:avLst/>
          </a:prstGeom>
        </p:spPr>
      </p:pic>
      <p:sp>
        <p:nvSpPr>
          <p:cNvPr id="7" name="Dependency Comic Caption"/>
          <p:cNvSpPr txBox="1"/>
          <p:nvPr/>
        </p:nvSpPr>
        <p:spPr>
          <a:xfrm>
            <a:off x="5049584" y="4070093"/>
            <a:ext cx="3737151" cy="6999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sz="1100" i="1" dirty="0">
                <a:solidFill>
                  <a:srgbClr val="FFFFFF"/>
                </a:solidFill>
              </a:rPr>
              <a:t>This is why half this list exists.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as Code, for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>
          <a:xfrm>
            <a:off x="354484" y="1355359"/>
            <a:ext cx="8432252" cy="304800"/>
          </a:xfrm>
        </p:spPr>
        <p:txBody>
          <a:bodyPr/>
          <a:lstStyle/>
          <a:p>
            <a:r>
              <a:rPr sz="1400" i="1">
                <a:solidFill>
                  <a:srgbClr val="FFFFFF"/>
                </a:solidFill>
                <a:latin typeface="Consolas"/>
              </a:rPr>
              <a:t>policies/terraform/cloudflare_security.rego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8138160" cy="165938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square" lIns="127000" tIns="101600" rIns="127000" bIns="1016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# Block certificates with validity &gt; 90 days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deny contains msg if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some r in resource_changes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r.type == "cloudflare_certificate_pack"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r.change.after.validity_days &gt; 90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msg := sprintf("validity_days &gt; 90 (max 90)", [r.address])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8782"/>
            <a:ext cx="8138160" cy="165938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square" lIns="127000" tIns="101600" rIns="127000" bIns="1016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# Block WAF rulesets without Exposed Credentials Check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deny contains msg if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some rule in r.change.after.rules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rule.ref == "CloudflareExposedCredentialsCheckRuleset"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rule.action != "execute"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msg := sprintf("must execute Exposed Credentials Check", [r.address])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>
          <a:xfrm>
            <a:off x="354484" y="3157982"/>
            <a:ext cx="8432252" cy="13716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/>
              <a:t>No automated zone deletion or pausing</a:t>
            </a:r>
          </a:p>
          <a:p>
            <a:pPr>
              <a:spcAft>
                <a:spcPts val="400"/>
              </a:spcAft>
            </a:pPr>
            <a:r>
              <a:rPr sz="1400"/>
              <a:t>No automated LB pool or health check deletion</a:t>
            </a:r>
          </a:p>
          <a:p>
            <a:pPr>
              <a:spcAft>
                <a:spcPts val="400"/>
              </a:spcAft>
            </a:pPr>
            <a:r>
              <a:rPr sz="1400"/>
              <a:t>No automated DNS record deletion</a:t>
            </a:r>
          </a:p>
          <a:p>
            <a:pPr>
              <a:spcAft>
                <a:spcPts val="400"/>
              </a:spcAft>
            </a:pPr>
            <a:r>
              <a:rPr sz="1400" b="1"/>
              <a:t>Health checks: </a:t>
            </a:r>
            <a:r>
              <a:rPr sz="1400"/>
              <a:t>expected_codes required, timeout ≥ 5s, interval ≥ 30s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8138160" cy="165938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square" lIns="127000" tIns="101600" rIns="127000" bIns="1016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# Block automated DNS record deletion (critical infrastructure)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deny contains msg if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some r in resource_changes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r.type == "cloudflare_dns_record"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"delete" in r.change.actions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msg := sprintf("deletion of DNS record '%s' is not permitted", [r.address])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Shift Left, Literally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1600" b="1"/>
              <a:t>Branch &amp; Commit Checks, </a:t>
            </a:r>
            <a:r>
              <a:rPr sz="1600"/>
              <a:t>up to date with main, all commits 1Password-signed</a:t>
            </a:r>
          </a:p>
          <a:p>
            <a:pPr>
              <a:spcAft>
                <a:spcPts val="1400"/>
              </a:spcAft>
            </a:pPr>
            <a:r>
              <a:rPr sz="1600" b="1"/>
              <a:t>GitGuardian Secret Scan, </a:t>
            </a:r>
            <a:r>
              <a:rPr sz="1600"/>
              <a:t>scans for exposed credentials</a:t>
            </a:r>
          </a:p>
          <a:p>
            <a:pPr>
              <a:spcAft>
                <a:spcPts val="1400"/>
              </a:spcAft>
            </a:pPr>
            <a:r>
              <a:rPr sz="1600" b="1"/>
              <a:t>Trunk Check, </a:t>
            </a:r>
            <a:r>
              <a:rPr sz="1600"/>
              <a:t>not just lint/format: bundles Checkov (IaC SAST), terrascan, tflint, trivy, trufflehog, bandit, and more, all in one pass</a:t>
            </a:r>
          </a:p>
          <a:p>
            <a:pPr>
              <a:spcAft>
                <a:spcPts val="1400"/>
              </a:spcAft>
            </a:pPr>
            <a:r>
              <a:rPr sz="1600" b="1"/>
              <a:t>Zizmor, </a:t>
            </a:r>
            <a:r>
              <a:rPr sz="1600"/>
              <a:t>scans the pipeline itself for security issues (unpinned actions, injection vectors, token over-permission)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0"/>
          </p:nvPr>
        </p:nvSpPr>
        <p:spPr/>
        <p:txBody>
          <a:bodyPr wrap="square"/>
          <a:lstStyle/>
          <a:p>
            <a:r>
              <a:rPr sz="1400" b="1">
                <a:solidFill>
                  <a:srgbClr val="FFFFFF"/>
                </a:solidFill>
              </a:rPr>
              <a:t>All four run before a plan ever touches Cloudflare.</a:t>
            </a:r>
          </a:p>
          <a:p>
            <a:pPr>
              <a:spcBef>
                <a:spcPts val="1200"/>
              </a:spcBef>
            </a:pPr>
            <a:r>
              <a:rPr sz="1300" i="1">
                <a:solidFill>
                  <a:srgbClr val="FFFFFF"/>
                </a:solidFill>
              </a:rPr>
              <a:t>Draft PRs skip all four, with no CI spend and no secrets touched, until marked ready for review.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1676" y="809577"/>
            <a:ext cx="3081004" cy="417871"/>
          </a:xfrm>
        </p:spPr>
        <p:txBody>
          <a:bodyPr>
            <a:normAutofit fontScale="90000"/>
          </a:bodyPr>
          <a:lstStyle/>
          <a:p>
            <a:r>
              <a:rPr dirty="0"/>
              <a:t>Dependencies Go Through the Same</a:t>
            </a:r>
            <a:r>
              <a:rPr lang="en-US" dirty="0"/>
              <a:t> </a:t>
            </a:r>
            <a:r>
              <a:rPr dirty="0"/>
              <a:t>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262" y="809577"/>
            <a:ext cx="5593751" cy="254000"/>
          </a:xfrm>
        </p:spPr>
        <p:txBody>
          <a:bodyPr/>
          <a:lstStyle/>
          <a:p>
            <a:r>
              <a:rPr sz="1300" i="1">
                <a:solidFill>
                  <a:srgbClr val="FFFFFF"/>
                </a:solidFill>
                <a:latin typeface="Consolas"/>
              </a:rPr>
              <a:t>.github/dependabot.yml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6008801" y="1227448"/>
            <a:ext cx="2746753" cy="34391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1200" dirty="0"/>
              <a:t>Two ecosystems: pinned GitHub Actions SHAs, and </a:t>
            </a:r>
            <a:r>
              <a:rPr sz="1200" dirty="0" err="1"/>
              <a:t>OpenTofu</a:t>
            </a:r>
            <a:r>
              <a:rPr sz="1200" dirty="0"/>
              <a:t>/Cloudflare provider versions</a:t>
            </a:r>
          </a:p>
          <a:p>
            <a:pPr>
              <a:spcAft>
                <a:spcPts val="600"/>
              </a:spcAft>
            </a:pPr>
            <a:r>
              <a:rPr sz="1200" dirty="0"/>
              <a:t>Every </a:t>
            </a:r>
            <a:r>
              <a:rPr sz="1200" dirty="0" err="1"/>
              <a:t>Dependabot</a:t>
            </a:r>
            <a:r>
              <a:rPr sz="1200" dirty="0"/>
              <a:t> PR flows through the exact same tofu-</a:t>
            </a:r>
            <a:r>
              <a:rPr sz="1200" dirty="0" err="1"/>
              <a:t>plan.yml</a:t>
            </a:r>
            <a:r>
              <a:rPr sz="1200" dirty="0"/>
              <a:t> pipeline, including pre-flight jobs, OPA, all of it</a:t>
            </a:r>
          </a:p>
          <a:p>
            <a:pPr>
              <a:spcAft>
                <a:spcPts val="600"/>
              </a:spcAft>
            </a:pPr>
            <a:r>
              <a:rPr sz="1200" dirty="0"/>
              <a:t>7-day cooldown before a release is even eligible, a deliberate supply-chain defense (named after </a:t>
            </a:r>
            <a:r>
              <a:rPr sz="1200" dirty="0" err="1"/>
              <a:t>tj</a:t>
            </a:r>
            <a:r>
              <a:rPr sz="1200" dirty="0"/>
              <a:t>-actions-style incidents)</a:t>
            </a:r>
          </a:p>
          <a:p>
            <a:pPr>
              <a:spcAft>
                <a:spcPts val="600"/>
              </a:spcAft>
            </a:pPr>
            <a:r>
              <a:rPr sz="1200" dirty="0"/>
              <a:t>Gotcha: </a:t>
            </a:r>
            <a:r>
              <a:rPr sz="1200" dirty="0" err="1"/>
              <a:t>Dependabot</a:t>
            </a:r>
            <a:r>
              <a:rPr sz="1200" dirty="0"/>
              <a:t> PRs run without repository secrets, same as fork PRs. Every secret must be duplicated under Settings → </a:t>
            </a:r>
            <a:r>
              <a:rPr sz="1200" dirty="0" err="1"/>
              <a:t>Dependabot</a:t>
            </a:r>
            <a:endParaRPr sz="1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7262" y="1227448"/>
            <a:ext cx="5120640" cy="354761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square" lIns="127000" tIns="101600" rIns="127000" bIns="1016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- package-ecosystem: </a:t>
            </a:r>
            <a:r>
              <a:rPr sz="950" dirty="0" err="1">
                <a:solidFill>
                  <a:srgbClr val="D4D4D4"/>
                </a:solidFill>
                <a:latin typeface="Consolas"/>
              </a:rPr>
              <a:t>github</a:t>
            </a:r>
            <a:r>
              <a:rPr sz="950" dirty="0">
                <a:solidFill>
                  <a:srgbClr val="D4D4D4"/>
                </a:solidFill>
                <a:latin typeface="Consolas"/>
              </a:rPr>
              <a:t>-actions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directory: 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schedule: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interval: weekly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day: </a:t>
            </a:r>
            <a:r>
              <a:rPr sz="950" dirty="0" err="1">
                <a:solidFill>
                  <a:srgbClr val="D4D4D4"/>
                </a:solidFill>
                <a:latin typeface="Consolas"/>
              </a:rPr>
              <a:t>monday</a:t>
            </a:r>
            <a:endParaRPr sz="95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# Supply-chain cooldown: don't PR a release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# until it's been public N days. A compromised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# release (</a:t>
            </a:r>
            <a:r>
              <a:rPr sz="950" dirty="0" err="1">
                <a:solidFill>
                  <a:srgbClr val="D4D4D4"/>
                </a:solidFill>
                <a:latin typeface="Consolas"/>
              </a:rPr>
              <a:t>tj</a:t>
            </a:r>
            <a:r>
              <a:rPr sz="950" dirty="0">
                <a:solidFill>
                  <a:srgbClr val="D4D4D4"/>
                </a:solidFill>
                <a:latin typeface="Consolas"/>
              </a:rPr>
              <a:t>-actions-style) usually gets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# caught/yanked within days.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cooldown: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default-days: 7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groups: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actions: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  patterns: ["*"]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- package-ecosystem: terraform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directory: 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schedule: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interval: weekly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day: </a:t>
            </a:r>
            <a:r>
              <a:rPr sz="950" dirty="0" err="1">
                <a:solidFill>
                  <a:srgbClr val="D4D4D4"/>
                </a:solidFill>
                <a:latin typeface="Consolas"/>
              </a:rPr>
              <a:t>monday</a:t>
            </a:r>
            <a:endParaRPr sz="95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cooldown: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D4D4D4"/>
                </a:solidFill>
                <a:latin typeface="Consolas"/>
              </a:rPr>
              <a:t>    default-days: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the Plan You Reviewed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262" y="809577"/>
            <a:ext cx="5593751" cy="548640"/>
          </a:xfrm>
        </p:spPr>
        <p:txBody>
          <a:bodyPr/>
          <a:lstStyle/>
          <a:p>
            <a:r>
              <a:rPr sz="1500" b="1">
                <a:solidFill>
                  <a:srgbClr val="FFFFFF"/>
                </a:solidFill>
              </a:rPr>
              <a:t>In tofu-apply.yml, apply runs the reviewed artifact, not a fresh plan of main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 wrap="square"/>
          <a:lstStyle/>
          <a:p>
            <a:r>
              <a:rPr sz="1500" b="1">
                <a:solidFill>
                  <a:srgbClr val="FFFFFF"/>
                </a:solidFill>
              </a:rPr>
              <a:t>“Approve the PR” ≠ “run whatever's on main now.”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Steps 4 and 6 are the hard stops: byte-identical tree check, plus OpenTofu's own staleness check.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</a:rPr>
              <a:t>1. </a:t>
            </a:r>
            <a:r>
              <a:rPr sz="1500">
                <a:solidFill>
                  <a:srgbClr val="FFFFFF"/>
                </a:solidFill>
              </a:rPr>
              <a:t>Resolve merged PR → the artifact from THAT PR's last successful plan run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</a:rPr>
              <a:t>2. </a:t>
            </a:r>
            <a:r>
              <a:rPr sz="1500">
                <a:solidFill>
                  <a:srgbClr val="FFFFFF"/>
                </a:solidFill>
              </a:rPr>
              <a:t>Verify artifact is complete (tfplan.binary present)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</a:rPr>
              <a:t>3. </a:t>
            </a:r>
            <a:r>
              <a:rPr sz="1500">
                <a:solidFill>
                  <a:srgbClr val="FFFFFF"/>
                </a:solidFill>
              </a:rPr>
              <a:t>Skip if no-op (nothing to do, no state lock)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</a:rPr>
              <a:t>4. </a:t>
            </a:r>
            <a:r>
              <a:rPr sz="1500">
                <a:solidFill>
                  <a:srgbClr val="FFFFFF"/>
                </a:solidFill>
              </a:rPr>
              <a:t>Verify merged tree is byte-identical to the tree the plan was generated from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</a:rPr>
              <a:t>5. </a:t>
            </a:r>
            <a:r>
              <a:rPr sz="1500">
                <a:solidFill>
                  <a:srgbClr val="FFFFFF"/>
                </a:solidFill>
              </a:rPr>
              <a:t>OPA re-check (catches an admin force-merge that bypassed PR checks)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</a:rPr>
              <a:t>6. </a:t>
            </a:r>
            <a:r>
              <a:rPr sz="1500">
                <a:solidFill>
                  <a:srgbClr val="FFFFFF"/>
                </a:solidFill>
              </a:rPr>
              <a:t>Apply. OpenTofu itself refuses a stale plan if state changed since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63" y="1444121"/>
            <a:ext cx="2505756" cy="529722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Verify, Nightly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2985" y="1444121"/>
            <a:ext cx="5593751" cy="314411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500" b="1" dirty="0"/>
              <a:t>Drift, </a:t>
            </a:r>
            <a:r>
              <a:rPr sz="1500" dirty="0"/>
              <a:t>-refresh-only plan catches out-of-band dashboard/API changes, filtered against read-only attributes (from the provider schema) so timestamp/counter churn doesn't cry wolf</a:t>
            </a:r>
          </a:p>
          <a:p>
            <a:pPr>
              <a:spcAft>
                <a:spcPts val="1200"/>
              </a:spcAft>
            </a:pPr>
            <a:r>
              <a:rPr sz="1500" b="1" dirty="0"/>
              <a:t>Unapplied config, </a:t>
            </a:r>
            <a:r>
              <a:rPr sz="1500" dirty="0"/>
              <a:t>regular plan catches main describing changes that were never actually applied</a:t>
            </a:r>
          </a:p>
          <a:p>
            <a:pPr>
              <a:spcAft>
                <a:spcPts val="1200"/>
              </a:spcAft>
            </a:pPr>
            <a:r>
              <a:rPr sz="1500" b="1" dirty="0"/>
              <a:t>Policy violations in live state, </a:t>
            </a:r>
            <a:r>
              <a:rPr sz="1500" dirty="0"/>
              <a:t>OPA evaluates nightly against current state, catching an out-of-band change that violates policy without waiting for the next PR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357262" y="1973843"/>
            <a:ext cx="2746753" cy="2614395"/>
          </a:xfrm>
        </p:spPr>
        <p:txBody>
          <a:bodyPr/>
          <a:lstStyle/>
          <a:p>
            <a:r>
              <a:rPr sz="1500" b="1" dirty="0">
                <a:solidFill>
                  <a:srgbClr val="FFFFFF"/>
                </a:solidFill>
                <a:latin typeface="Consolas"/>
              </a:rPr>
              <a:t>tofu-</a:t>
            </a:r>
            <a:r>
              <a:rPr sz="1500" b="1" dirty="0" err="1">
                <a:solidFill>
                  <a:srgbClr val="FFFFFF"/>
                </a:solidFill>
                <a:latin typeface="Consolas"/>
              </a:rPr>
              <a:t>drift.yml</a:t>
            </a:r>
            <a:endParaRPr sz="1500" b="1" dirty="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1300" i="1" dirty="0">
                <a:solidFill>
                  <a:srgbClr val="FFFFFF"/>
                </a:solidFill>
              </a:rPr>
              <a:t>Daily. Read-only. Never applies.</a:t>
            </a:r>
          </a:p>
          <a:p>
            <a:pPr>
              <a:spcBef>
                <a:spcPts val="1600"/>
              </a:spcBef>
            </a:pPr>
            <a:r>
              <a:rPr sz="1300" dirty="0">
                <a:solidFill>
                  <a:srgbClr val="FFFFFF"/>
                </a:solidFill>
              </a:rPr>
              <a:t>Findings → GitHub issue (tagged, updated in place); clean run closes it.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519" y="1432513"/>
            <a:ext cx="2747217" cy="300922"/>
          </a:xfrm>
        </p:spPr>
        <p:txBody>
          <a:bodyPr/>
          <a:lstStyle/>
          <a:p>
            <a:r>
              <a:rPr dirty="0"/>
              <a:t>Credentials Rot</a:t>
            </a:r>
            <a:r>
              <a:rPr lang="en-US" dirty="0"/>
              <a:t>,</a:t>
            </a:r>
            <a:r>
              <a:rPr dirty="0"/>
              <a:t> Too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262" y="990073"/>
            <a:ext cx="5593751" cy="642463"/>
          </a:xfrm>
        </p:spPr>
        <p:txBody>
          <a:bodyPr/>
          <a:lstStyle/>
          <a:p>
            <a:r>
              <a:rPr sz="1500" b="1" dirty="0">
                <a:solidFill>
                  <a:srgbClr val="FFFFFF"/>
                </a:solidFill>
              </a:rPr>
              <a:t>credential-</a:t>
            </a:r>
            <a:r>
              <a:rPr sz="1500" b="1" dirty="0" err="1">
                <a:solidFill>
                  <a:srgbClr val="FFFFFF"/>
                </a:solidFill>
              </a:rPr>
              <a:t>health.yml</a:t>
            </a:r>
            <a:r>
              <a:rPr sz="1500" b="1" dirty="0">
                <a:solidFill>
                  <a:srgbClr val="FFFFFF"/>
                </a:solidFill>
              </a:rPr>
              <a:t>, weekly</a:t>
            </a:r>
          </a:p>
          <a:p>
            <a:pPr>
              <a:spcBef>
                <a:spcPts val="400"/>
              </a:spcBef>
            </a:pPr>
            <a:r>
              <a:rPr sz="1300" i="1" dirty="0">
                <a:solidFill>
                  <a:srgbClr val="FFFFFF"/>
                </a:solidFill>
              </a:rPr>
              <a:t>Static credentials mostly don't expire. That's the problem.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6039983" y="1920240"/>
            <a:ext cx="2746753" cy="2667998"/>
          </a:xfrm>
        </p:spPr>
        <p:txBody>
          <a:bodyPr wrap="square"/>
          <a:lstStyle/>
          <a:p>
            <a:r>
              <a:rPr sz="1400" b="1" dirty="0">
                <a:solidFill>
                  <a:srgbClr val="FFFFFF"/>
                </a:solidFill>
              </a:rPr>
              <a:t>Invalid CODEOWNERS entries are silently ignored by GitHub.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FFFFFF"/>
                </a:solidFill>
              </a:rPr>
              <a:t>This check is the only thing that tells you your review gate has a hole in it.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1206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/>
              <a:t>•  Cloudflare API token, status + expiry warning (&lt;30 days)</a:t>
            </a:r>
          </a:p>
          <a:p>
            <a:pPr>
              <a:spcAft>
                <a:spcPts val="600"/>
              </a:spcAft>
            </a:pPr>
            <a:r>
              <a:rPr sz="1400" dirty="0"/>
              <a:t>•  Cloudflare </a:t>
            </a:r>
            <a:r>
              <a:rPr sz="1400" dirty="0" err="1"/>
              <a:t>logpush</a:t>
            </a:r>
            <a:r>
              <a:rPr sz="1400" dirty="0"/>
              <a:t> job health, disabled jobs / </a:t>
            </a:r>
            <a:r>
              <a:rPr sz="1400" dirty="0" err="1"/>
              <a:t>last_error</a:t>
            </a:r>
            <a:endParaRPr sz="1400" dirty="0"/>
          </a:p>
          <a:p>
            <a:pPr>
              <a:spcAft>
                <a:spcPts val="600"/>
              </a:spcAft>
            </a:pPr>
            <a:r>
              <a:rPr sz="1400" dirty="0"/>
              <a:t>•  </a:t>
            </a:r>
            <a:r>
              <a:rPr sz="1400" dirty="0" err="1"/>
              <a:t>GitGuardian</a:t>
            </a:r>
            <a:r>
              <a:rPr sz="1400" dirty="0"/>
              <a:t> API key, validity + expiry</a:t>
            </a:r>
          </a:p>
          <a:p>
            <a:pPr>
              <a:spcAft>
                <a:spcPts val="600"/>
              </a:spcAft>
            </a:pPr>
            <a:r>
              <a:rPr sz="1400" dirty="0"/>
              <a:t>•  AWS credential validity + key age (&gt;90 days flagged)</a:t>
            </a:r>
          </a:p>
          <a:p>
            <a:pPr>
              <a:spcAft>
                <a:spcPts val="600"/>
              </a:spcAft>
            </a:pPr>
            <a:r>
              <a:rPr sz="1400" dirty="0"/>
              <a:t>•  CODEOWNERS entry validity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Key Person With All the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500" b="1"/>
              <a:t>Fork-based contribution: </a:t>
            </a:r>
            <a:r>
              <a:rPr sz="1500"/>
              <a:t>development happens on a fork's main, ship.sh opens a PR against upstream main</a:t>
            </a:r>
          </a:p>
          <a:p>
            <a:pPr>
              <a:spcAft>
                <a:spcPts val="1000"/>
              </a:spcAft>
            </a:pPr>
            <a:r>
              <a:rPr sz="1500" b="1"/>
              <a:t>CODEOWNERS: </a:t>
            </a:r>
            <a:r>
              <a:rPr sz="1500"/>
              <a:t>* @uthh-infosec/cloudflare-approvers, a group, not a person, with /.github/ pinned to a named owner as the last-match override</a:t>
            </a:r>
          </a:p>
          <a:p>
            <a:pPr>
              <a:spcAft>
                <a:spcPts val="1000"/>
              </a:spcAft>
            </a:pPr>
            <a:r>
              <a:rPr sz="1500" b="1"/>
              <a:t>Forking is disabled on the upstream repo.</a:t>
            </a:r>
            <a:r>
              <a:rPr sz="1500"/>
              <a:t> Existing forks keep working, no new ones without the repo owner re-enabling it</a:t>
            </a:r>
          </a:p>
          <a:p>
            <a:pPr>
              <a:spcAft>
                <a:spcPts val="1000"/>
              </a:spcAft>
            </a:pPr>
            <a:r>
              <a:rPr sz="1500" b="1"/>
              <a:t>Fork PRs run with real secrets.</a:t>
            </a:r>
            <a:r>
              <a:rPr sz="1500"/>
              <a:t> The collaborator list IS the trust boundary, not repo permission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160520"/>
            <a:ext cx="813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 dirty="0">
                <a:solidFill>
                  <a:srgbClr val="FFFFFF"/>
                </a:solidFill>
              </a:rPr>
              <a:t>2024 speaker note: “reduces the risk of having that 'key person' with all the keys to the kingdom”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>
          <a:xfrm>
            <a:off x="357262" y="1355359"/>
            <a:ext cx="4300000" cy="345000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FFFFF"/>
                </a:solidFill>
              </a:rPr>
              <a:t>What broke: </a:t>
            </a:r>
            <a:r>
              <a:rPr sz="1300" dirty="0">
                <a:solidFill>
                  <a:srgbClr val="FFFFFF"/>
                </a:solidFill>
              </a:rPr>
              <a:t>the </a:t>
            </a:r>
            <a:r>
              <a:rPr sz="1300" dirty="0" err="1">
                <a:solidFill>
                  <a:srgbClr val="FFFFFF"/>
                </a:solidFill>
              </a:rPr>
              <a:t>tofu_wrapper</a:t>
            </a:r>
            <a:r>
              <a:rPr sz="1300" dirty="0">
                <a:solidFill>
                  <a:srgbClr val="FFFFFF"/>
                </a:solidFill>
              </a:rPr>
              <a:t> default masking -detailed-</a:t>
            </a:r>
            <a:r>
              <a:rPr sz="1300" dirty="0" err="1">
                <a:solidFill>
                  <a:srgbClr val="FFFFFF"/>
                </a:solidFill>
              </a:rPr>
              <a:t>exitcode's</a:t>
            </a:r>
            <a:r>
              <a:rPr sz="1300" dirty="0">
                <a:solidFill>
                  <a:srgbClr val="FFFFFF"/>
                </a:solidFill>
              </a:rPr>
              <a:t> exit 2, which silently turned real changes into “No changes” in the PR comment for a while</a:t>
            </a: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FFFFF"/>
                </a:solidFill>
              </a:rPr>
              <a:t>What surprised us: </a:t>
            </a:r>
            <a:r>
              <a:rPr sz="1300" dirty="0">
                <a:solidFill>
                  <a:srgbClr val="FFFFFF"/>
                </a:solidFill>
              </a:rPr>
              <a:t>the CODEOWNERS silent-failure mode, where a team without explicit write access was inert as a code owner, and nobody noticed until credential-</a:t>
            </a:r>
            <a:r>
              <a:rPr sz="1300" dirty="0" err="1">
                <a:solidFill>
                  <a:srgbClr val="FFFFFF"/>
                </a:solidFill>
              </a:rPr>
              <a:t>health.yml</a:t>
            </a:r>
            <a:r>
              <a:rPr sz="1300" dirty="0">
                <a:solidFill>
                  <a:srgbClr val="FFFFFF"/>
                </a:solidFill>
              </a:rPr>
              <a:t> existed to say so</a:t>
            </a: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FFFFF"/>
                </a:solidFill>
              </a:rPr>
              <a:t>What I'd do differently: </a:t>
            </a:r>
            <a:r>
              <a:rPr sz="1300" dirty="0">
                <a:solidFill>
                  <a:srgbClr val="FFFFFF"/>
                </a:solidFill>
              </a:rPr>
              <a:t>earlier investment in OIDC over static AWS keys, and writing the drift-noise filter sooner</a:t>
            </a:r>
          </a:p>
        </p:txBody>
      </p:sp>
      <p:pic>
        <p:nvPicPr>
          <p:cNvPr id="6" name="Automation Com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868" y="1227448"/>
            <a:ext cx="2815000" cy="2850000"/>
          </a:xfrm>
          <a:prstGeom prst="rect">
            <a:avLst/>
          </a:prstGeom>
        </p:spPr>
      </p:pic>
      <p:sp>
        <p:nvSpPr>
          <p:cNvPr id="7" name="Automation Comic Caption"/>
          <p:cNvSpPr txBox="1"/>
          <p:nvPr/>
        </p:nvSpPr>
        <p:spPr>
          <a:xfrm>
            <a:off x="4850000" y="4158922"/>
            <a:ext cx="3936736" cy="41787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sz="1100" i="1" dirty="0">
                <a:solidFill>
                  <a:srgbClr val="FFFFFF"/>
                </a:solidFill>
              </a:rPr>
              <a:t>Ask me how long credential-</a:t>
            </a:r>
            <a:r>
              <a:rPr sz="1100" i="1" dirty="0" err="1">
                <a:solidFill>
                  <a:srgbClr val="FFFFFF"/>
                </a:solidFill>
              </a:rPr>
              <a:t>health.yml</a:t>
            </a:r>
            <a:r>
              <a:rPr sz="1100" i="1" dirty="0">
                <a:solidFill>
                  <a:srgbClr val="FFFFFF"/>
                </a:solidFill>
              </a:rPr>
              <a:t> took</a:t>
            </a:r>
            <a:endParaRPr lang="en-US" sz="1100" i="1" dirty="0">
              <a:solidFill>
                <a:srgbClr val="FFFFFF"/>
              </a:solidFill>
            </a:endParaRP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v</a:t>
            </a:r>
            <a:r>
              <a:rPr sz="1100" i="1" dirty="0">
                <a:solidFill>
                  <a:srgbClr val="FFFFFF"/>
                </a:solidFill>
              </a:rPr>
              <a:t>ersus</a:t>
            </a:r>
            <a:r>
              <a:rPr lang="zh-CN" altLang="en-US" sz="1100" i="1" dirty="0">
                <a:solidFill>
                  <a:srgbClr val="FFFFFF"/>
                </a:solidFill>
              </a:rPr>
              <a:t> </a:t>
            </a:r>
            <a:r>
              <a:rPr sz="1100" i="1" dirty="0">
                <a:solidFill>
                  <a:srgbClr val="FFFFFF"/>
                </a:solidFill>
              </a:rPr>
              <a:t>how </a:t>
            </a:r>
            <a:r>
              <a:rPr lang="en-US" altLang="zh-CN" sz="1100" i="1" dirty="0">
                <a:solidFill>
                  <a:srgbClr val="FFFFFF"/>
                </a:solidFill>
              </a:rPr>
              <a:t>much</a:t>
            </a:r>
            <a:r>
              <a:rPr sz="1100" i="1" dirty="0">
                <a:solidFill>
                  <a:srgbClr val="FFFFFF"/>
                </a:solidFill>
              </a:rPr>
              <a:t> it saves.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>
          <a:xfrm>
            <a:off x="357262" y="2450000"/>
            <a:ext cx="4107737" cy="2250000"/>
          </a:xfrm>
        </p:spPr>
        <p:txBody>
          <a:bodyPr anchor="ctr"/>
          <a:lstStyle/>
          <a:p>
            <a:pPr>
              <a:spcAft>
                <a:spcPts val="600"/>
              </a:spcAft>
            </a:pPr>
            <a:r>
              <a:rPr sz="1600" dirty="0" err="1"/>
              <a:t>OpenTofu</a:t>
            </a:r>
            <a:r>
              <a:rPr sz="1600" dirty="0"/>
              <a:t> docs, OPA Rego v1 docs, Cloudflare provider docs</a:t>
            </a:r>
          </a:p>
          <a:p>
            <a:pPr>
              <a:spcAft>
                <a:spcPts val="600"/>
              </a:spcAft>
            </a:pPr>
            <a:r>
              <a:rPr sz="1600" dirty="0" err="1"/>
              <a:t>Zizmor</a:t>
            </a:r>
            <a:r>
              <a:rPr sz="1600" dirty="0"/>
              <a:t>, Regal, Trunk, </a:t>
            </a:r>
            <a:r>
              <a:rPr sz="1600" dirty="0" err="1"/>
              <a:t>GitGuardian</a:t>
            </a:r>
            <a:endParaRPr sz="1600" dirty="0"/>
          </a:p>
        </p:txBody>
      </p:sp>
      <p:pic>
        <p:nvPicPr>
          <p:cNvPr id="5" name="Resources QR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868" y="2800000"/>
            <a:ext cx="1500000" cy="1500000"/>
          </a:xfrm>
          <a:prstGeom prst="rect">
            <a:avLst/>
          </a:prstGeom>
        </p:spPr>
      </p:pic>
      <p:sp>
        <p:nvSpPr>
          <p:cNvPr id="6" name="Resources QR Caption"/>
          <p:cNvSpPr txBox="1"/>
          <p:nvPr/>
        </p:nvSpPr>
        <p:spPr>
          <a:xfrm>
            <a:off x="4679000" y="4350000"/>
            <a:ext cx="4107736" cy="35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</a:rPr>
              <a:t>github.com/bbush-uthealth/terraform-all-the-things-part-ii</a:t>
            </a:r>
          </a:p>
          <a:p>
            <a:pPr algn="ctr"/>
            <a:r>
              <a:rPr sz="900" i="1">
                <a:solidFill>
                  <a:srgbClr val="FFFFFF"/>
                </a:solidFill>
              </a:rPr>
              <a:t>(repo goes live day of talk; placeholder until the resources doc is ready)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</a:rPr>
              <a:t>Terraform All The Things, Part II</a:t>
            </a:r>
          </a:p>
          <a:p>
            <a:pPr marL="0" indent="0" algn="ctr">
              <a:buNone/>
            </a:pPr>
            <a:r>
              <a:rPr sz="1300" i="1">
                <a:solidFill>
                  <a:srgbClr val="FFFFFF"/>
                </a:solidFill>
              </a:rPr>
              <a:t>Security As Code, In Production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spcAft>
                <a:spcPts val="200"/>
              </a:spcAft>
              <a:buNone/>
            </a:pPr>
            <a:r>
              <a:rPr sz="1600" b="1">
                <a:solidFill>
                  <a:srgbClr val="FFFFFF"/>
                </a:solidFill>
              </a:rPr>
              <a:t>Brian Bush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300">
                <a:solidFill>
                  <a:srgbClr val="FFFFFF"/>
                </a:solidFill>
              </a:rPr>
              <a:t>CISSP, GCAD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300">
                <a:solidFill>
                  <a:srgbClr val="FFFFFF"/>
                </a:solidFill>
              </a:rPr>
              <a:t>Security Architect, UTHealth Houston</a:t>
            </a:r>
          </a:p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brian.m.bush@uth.tmc.edu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QR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861" y="1559577"/>
            <a:ext cx="2200000" cy="2200000"/>
          </a:xfrm>
          <a:prstGeom prst="rect">
            <a:avLst/>
          </a:prstGeom>
        </p:spPr>
      </p:pic>
      <p:sp>
        <p:nvSpPr>
          <p:cNvPr id="7" name="QR Caption"/>
          <p:cNvSpPr txBox="1"/>
          <p:nvPr/>
        </p:nvSpPr>
        <p:spPr>
          <a:xfrm>
            <a:off x="3192985" y="3839577"/>
            <a:ext cx="5593751" cy="50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dirty="0" err="1">
                <a:solidFill>
                  <a:srgbClr val="FFFFFF"/>
                </a:solidFill>
              </a:rPr>
              <a:t>github.com</a:t>
            </a:r>
            <a:r>
              <a:rPr sz="1100" dirty="0">
                <a:solidFill>
                  <a:srgbClr val="FFFFFF"/>
                </a:solidFill>
              </a:rPr>
              <a:t>/</a:t>
            </a:r>
            <a:r>
              <a:rPr sz="1100" dirty="0" err="1">
                <a:solidFill>
                  <a:srgbClr val="FFFFFF"/>
                </a:solidFill>
              </a:rPr>
              <a:t>bbush-uthealth</a:t>
            </a:r>
            <a:r>
              <a:rPr sz="1100" dirty="0">
                <a:solidFill>
                  <a:srgbClr val="FFFFFF"/>
                </a:solidFill>
              </a:rPr>
              <a:t>/terraform-all-the-things-part-ii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62" y="1723907"/>
            <a:ext cx="8429474" cy="900000"/>
          </a:xfrm>
        </p:spPr>
        <p:txBody>
          <a:bodyPr anchor="ctr">
            <a:noAutofit/>
          </a:bodyPr>
          <a:lstStyle/>
          <a:p>
            <a:pPr algn="ctr"/>
            <a:r>
              <a:rPr sz="8000" b="1" dirty="0">
                <a:solidFill>
                  <a:srgbClr val="FFFFFF"/>
                </a:solidFill>
                <a:latin typeface="+mn-lt"/>
              </a:rPr>
              <a:t>Thank you</a:t>
            </a:r>
            <a:r>
              <a:rPr lang="en-US" sz="8000" b="1" dirty="0">
                <a:solidFill>
                  <a:srgbClr val="FFFFFF"/>
                </a:solidFill>
                <a:latin typeface="+mn-lt"/>
              </a:rPr>
              <a:t>!</a:t>
            </a:r>
            <a:endParaRPr sz="8000" b="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Questions Text"/>
          <p:cNvSpPr txBox="1"/>
          <p:nvPr/>
        </p:nvSpPr>
        <p:spPr>
          <a:xfrm>
            <a:off x="357262" y="2773907"/>
            <a:ext cx="8429474" cy="9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sz="7200" b="1" dirty="0">
                <a:solidFill>
                  <a:srgbClr val="FFFF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THH Color Palette">
      <a:dk1>
        <a:srgbClr val="FFFFFF"/>
      </a:dk1>
      <a:lt1>
        <a:srgbClr val="FFFFFF"/>
      </a:lt1>
      <a:dk2>
        <a:srgbClr val="FFFFFF"/>
      </a:dk2>
      <a:lt2>
        <a:srgbClr val="DFE5E3"/>
      </a:lt2>
      <a:accent1>
        <a:srgbClr val="AE6041"/>
      </a:accent1>
      <a:accent2>
        <a:srgbClr val="4E738A"/>
      </a:accent2>
      <a:accent3>
        <a:srgbClr val="002856"/>
      </a:accent3>
      <a:accent4>
        <a:srgbClr val="F2B826"/>
      </a:accent4>
      <a:accent5>
        <a:srgbClr val="587E69"/>
      </a:accent5>
      <a:accent6>
        <a:srgbClr val="7D708F"/>
      </a:accent6>
      <a:hlink>
        <a:srgbClr val="3366CC"/>
      </a:hlink>
      <a:folHlink>
        <a:srgbClr val="795CB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H_powerpoint_template-1920x1080" id="{283D6D6E-5438-7E42-A4E6-31D97A720212}" vid="{76AA9582-2630-614F-9704-A6B6A10F41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</TotalTime>
  <Words>4180</Words>
  <Application>Microsoft Macintosh PowerPoint</Application>
  <PresentationFormat>On-screen Show (16:9)</PresentationFormat>
  <Paragraphs>291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Consolas</vt:lpstr>
      <vt:lpstr>Helvetica</vt:lpstr>
      <vt:lpstr>Times New Roman</vt:lpstr>
      <vt:lpstr>Univers</vt:lpstr>
      <vt:lpstr>Office Theme</vt:lpstr>
      <vt:lpstr>Terraform All The Things, Part II</vt:lpstr>
      <vt:lpstr>Brian Bush, CISSP, GCAD</vt:lpstr>
      <vt:lpstr>Recap: The 2024 Cliffhanger</vt:lpstr>
      <vt:lpstr>The Thesis, Restated</vt:lpstr>
      <vt:lpstr>The System Today</vt:lpstr>
      <vt:lpstr>The Shopping List vs. The Cart</vt:lpstr>
      <vt:lpstr>Policy as Code, for Real</vt:lpstr>
      <vt:lpstr>Guardrails</vt:lpstr>
      <vt:lpstr>Shift Left, Literally First</vt:lpstr>
      <vt:lpstr>Dependencies Go Through the Same Gates</vt:lpstr>
      <vt:lpstr>Trust the Plan You Reviewed</vt:lpstr>
      <vt:lpstr>Verify, Nightly</vt:lpstr>
      <vt:lpstr>Credentials Rot, Too</vt:lpstr>
      <vt:lpstr>No Key Person With All the Keys</vt:lpstr>
      <vt:lpstr>Lessons Learned</vt:lpstr>
      <vt:lpstr>Resources</vt:lpstr>
      <vt:lpstr>Recap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Boteilho, Matthew</dc:creator>
  <cp:lastModifiedBy>Brian Bush</cp:lastModifiedBy>
  <cp:revision>168</cp:revision>
  <dcterms:created xsi:type="dcterms:W3CDTF">2024-01-25T20:28:46Z</dcterms:created>
  <dcterms:modified xsi:type="dcterms:W3CDTF">2026-10-08T18:11:13Z</dcterms:modified>
</cp:coreProperties>
</file>